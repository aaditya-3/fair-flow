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4"/>
    <p:sldMasterId id="214748367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y="5143500" cx="9144000"/>
  <p:notesSz cx="6858000" cy="9144000"/>
  <p:embeddedFontLst>
    <p:embeddedFont>
      <p:font typeface="Google Sans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font" Target="fonts/GoogleSans-regular.fntdata"/><Relationship Id="rId23" Type="http://schemas.openxmlformats.org/officeDocument/2006/relationships/font" Target="fonts/GoogleSans-bold.fntdata"/><Relationship Id="rId24" Type="http://schemas.openxmlformats.org/officeDocument/2006/relationships/font" Target="fonts/GoogleSans-italic.fntdata"/><Relationship Id="rId25" Type="http://schemas.openxmlformats.org/officeDocument/2006/relationships/font" Target="fonts/GoogleSans-boldItalic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c07f7ad1a1_2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" name="Google Shape;97;g3c07f7ad1a1_2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c07f7ad1a1_2_52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5" name="Google Shape;105;g3c07f7ad1a1_2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c07f7ad1a1_2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3" name="Google Shape;113;g3c07f7ad1a1_2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c07f7ad1a1_2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9" name="Google Shape;119;g3c07f7ad1a1_2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c07f7ad1a1_2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5" name="Google Shape;125;g3c07f7ad1a1_2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c07f7ad1a1_2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1" name="Google Shape;131;g3c07f7ad1a1_2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c07f7ad1a1_2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7" name="Google Shape;137;g3c07f7ad1a1_2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c07f7ad1a1_2_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3" name="Google Shape;143;g3c07f7ad1a1_2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c07f7ad1a1_2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9" name="Google Shape;149;g3c07f7ad1a1_2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c07f7ad1a1_2_1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5" name="Google Shape;155;g3c07f7ad1a1_2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c07f7ad1a1_2_1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1" name="Google Shape;161;g3c07f7ad1a1_2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c07f7ad1a1_2_1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7" name="Google Shape;167;g3c07f7ad1a1_2_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c07f7ad1a1_2_1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3" name="Google Shape;173;g3c07f7ad1a1_2_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c07f7ad1a1_2_1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9" name="Google Shape;179;g3c07f7ad1a1_2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c07f7ad1a1_2_1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4" name="Google Shape;184;g3c07f7ad1a1_2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6" name="Google Shape;56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57" name="Google Shape;57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60" name="Google Shape;60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3" name="Google Shape;6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8" name="Google Shape;68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9" name="Google Shape;69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2" name="Google Shape;72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5" name="Google Shape;75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6" name="Google Shape;76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79" name="Google Shape;79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3" name="Google Shape;83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4" name="Google Shape;84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5" name="Google Shape;85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88" name="Google Shape;88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1" name="Google Shape;91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2" name="Google Shape;92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2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5"/>
          <p:cNvSpPr txBox="1"/>
          <p:nvPr/>
        </p:nvSpPr>
        <p:spPr>
          <a:xfrm>
            <a:off x="436625" y="8810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sz="3400" b="1">
                <a:solidFill>
                  <a:srgbClr val="1F2937"/>
                </a:solidFill>
                <a:latin typeface="Calibri"/>
              </a:rPr>
              <a:t>FairFlow AI: Continuous Fairness Pipeline</a:t>
            </a:r>
            <a:endParaRPr b="1" i="0" sz="4000" u="none" cap="none" strike="noStrike">
              <a:solidFill>
                <a:schemeClr val="accent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00" name="Google Shape;100;p25"/>
          <p:cNvSpPr txBox="1"/>
          <p:nvPr/>
        </p:nvSpPr>
        <p:spPr>
          <a:xfrm>
            <a:off x="609900" y="1711275"/>
            <a:ext cx="7924200" cy="25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Google Sans"/>
              <a:buChar char="●"/>
            </a:pPr>
            <a:r>
              <a:rPr sz="100" b="0">
                <a:solidFill>
                  <a:srgbClr val="1F2937"/>
                </a:solidFill>
                <a:latin typeface="Calibri"/>
              </a:rPr>
              <a:t/>
            </a:r>
            <a:endParaRPr b="0" i="0" sz="1500" u="none" cap="none" strike="noStrik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01" name="Google Shape;101;p25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25"/>
          <p:cNvSpPr txBox="1"/>
          <p:nvPr/>
        </p:nvSpPr>
        <p:spPr>
          <a:xfrm>
            <a:off x="65700" y="3897125"/>
            <a:ext cx="90126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0" b="0">
                <a:solidFill>
                  <a:srgbClr val="1F2937"/>
                </a:solidFill>
                <a:latin typeface="Calibri"/>
              </a:rPr>
              <a:t/>
            </a:r>
            <a:endParaRPr sz="1500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03" name="Rectangle 102"/>
          <p:cNvSpPr/>
          <p:nvPr/>
        </p:nvSpPr>
        <p:spPr>
          <a:xfrm>
            <a:off x="320040" y="1691640"/>
            <a:ext cx="8412480" cy="1920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</a:pPr>
            <a:r>
              <a:rPr sz="1800">
                <a:solidFill>
                  <a:srgbClr val="334155"/>
                </a:solidFill>
                <a:latin typeface="Calibri"/>
              </a:rPr>
              <a:t>Google Solution Challenge 2026 Submission</a:t>
            </a:r>
          </a:p>
          <a:p>
            <a:pPr>
              <a:spcAft>
                <a:spcPts val="400"/>
              </a:spcAft>
            </a:pPr>
            <a:r>
              <a:rPr sz="1800">
                <a:solidFill>
                  <a:srgbClr val="334155"/>
                </a:solidFill>
                <a:latin typeface="Calibri"/>
              </a:rPr>
              <a:t/>
            </a:r>
          </a:p>
          <a:p>
            <a:pPr>
              <a:spcAft>
                <a:spcPts val="400"/>
              </a:spcAft>
            </a:pPr>
            <a:r>
              <a:rPr sz="1800">
                <a:solidFill>
                  <a:srgbClr val="334155"/>
                </a:solidFill>
                <a:latin typeface="Calibri"/>
              </a:rPr>
              <a:t>Privacy-first AI fairness governance platform for hiring, lending, and healthcare.</a:t>
            </a:r>
          </a:p>
          <a:p>
            <a:pPr>
              <a:spcAft>
                <a:spcPts val="400"/>
              </a:spcAft>
            </a:pPr>
            <a:r>
              <a:rPr sz="1800">
                <a:solidFill>
                  <a:srgbClr val="334155"/>
                </a:solidFill>
                <a:latin typeface="Calibri"/>
              </a:rPr>
              <a:t>C++/WASM local precheck + FastAPI fairness engine + governance memory + mitigation workflows.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137160" y="3840480"/>
            <a:ext cx="841248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</a:pPr>
            <a:r>
              <a:rPr sz="1500">
                <a:solidFill>
                  <a:srgbClr val="334155"/>
                </a:solidFill>
                <a:latin typeface="Calibri"/>
              </a:rPr>
              <a:t>Build with AI Track | Problem Statement: [Unbiased AI Decision] Open Innovation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6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sz="100" b="0">
                <a:solidFill>
                  <a:srgbClr val="1F2937"/>
                </a:solidFill>
                <a:latin typeface="Calibri"/>
              </a:rPr>
              <a:t/>
            </a:r>
            <a:endParaRPr/>
          </a:p>
        </p:txBody>
      </p:sp>
      <p:pic>
        <p:nvPicPr>
          <p:cNvPr id="108" name="Google Shape;108;p26"/>
          <p:cNvPicPr preferRelativeResize="0"/>
          <p:nvPr/>
        </p:nvPicPr>
        <p:blipFill rotWithShape="1">
          <a:blip r:embed="rId3">
            <a:alphaModFix/>
          </a:blip>
          <a:srcRect b="0" l="0" r="0" t="47611"/>
          <a:stretch/>
        </p:blipFill>
        <p:spPr>
          <a:xfrm>
            <a:off x="0" y="2448875"/>
            <a:ext cx="9144000" cy="2694624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26"/>
          <p:cNvSpPr txBox="1"/>
          <p:nvPr/>
        </p:nvSpPr>
        <p:spPr>
          <a:xfrm>
            <a:off x="146600" y="2895500"/>
            <a:ext cx="8760000" cy="20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sz="100" b="0">
                <a:solidFill>
                  <a:srgbClr val="1F2937"/>
                </a:solidFill>
                <a:latin typeface="Calibri"/>
              </a:rPr>
              <a:t/>
            </a:r>
            <a:endParaRPr b="1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10" name="Google Shape;110;p26" title="Frame 96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9143997" cy="2759277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Rectangle 110"/>
          <p:cNvSpPr/>
          <p:nvPr/>
        </p:nvSpPr>
        <p:spPr>
          <a:xfrm>
            <a:off x="411480" y="2514600"/>
            <a:ext cx="8229600" cy="1783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</a:pPr>
            <a:r>
              <a:rPr sz="2400">
                <a:solidFill>
                  <a:srgbClr val="334155"/>
                </a:solidFill>
                <a:latin typeface="Calibri"/>
              </a:rPr>
              <a:t>Team Details</a:t>
            </a:r>
          </a:p>
          <a:p>
            <a:pPr>
              <a:spcAft>
                <a:spcPts val="400"/>
              </a:spcAft>
            </a:pPr>
            <a:r>
              <a:rPr sz="2400">
                <a:solidFill>
                  <a:srgbClr val="334155"/>
                </a:solidFill>
                <a:latin typeface="Calibri"/>
              </a:rPr>
              <a:t/>
            </a:r>
          </a:p>
          <a:p>
            <a:pPr>
              <a:spcAft>
                <a:spcPts val="400"/>
              </a:spcAft>
            </a:pPr>
            <a:r>
              <a:rPr sz="2400">
                <a:solidFill>
                  <a:srgbClr val="334155"/>
                </a:solidFill>
                <a:latin typeface="Calibri"/>
              </a:rPr>
              <a:t>Team name: FairFlow</a:t>
            </a:r>
          </a:p>
          <a:p>
            <a:pPr>
              <a:spcAft>
                <a:spcPts val="400"/>
              </a:spcAft>
            </a:pPr>
            <a:r>
              <a:rPr sz="2400">
                <a:solidFill>
                  <a:srgbClr val="334155"/>
                </a:solidFill>
                <a:latin typeface="Calibri"/>
              </a:rPr>
              <a:t>Team leader name: Akshat Agrawal</a:t>
            </a:r>
          </a:p>
          <a:p>
            <a:pPr>
              <a:spcAft>
                <a:spcPts val="400"/>
              </a:spcAft>
            </a:pPr>
            <a:r>
              <a:rPr sz="2400">
                <a:solidFill>
                  <a:srgbClr val="334155"/>
                </a:solidFill>
                <a:latin typeface="Calibri"/>
              </a:rPr>
              <a:t>Problem Statement: [Unbiased AI Decision] Open Innovation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7"/>
          <p:cNvSpPr txBox="1"/>
          <p:nvPr/>
        </p:nvSpPr>
        <p:spPr>
          <a:xfrm>
            <a:off x="85525" y="806350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sz="3000" b="1">
                <a:solidFill>
                  <a:srgbClr val="1F2937"/>
                </a:solidFill>
                <a:latin typeface="Calibri"/>
              </a:rPr>
              <a:t>Brief About Our Solution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16" name="Google Shape;116;p27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Rectangle 116"/>
          <p:cNvSpPr/>
          <p:nvPr/>
        </p:nvSpPr>
        <p:spPr>
          <a:xfrm>
            <a:off x="502920" y="1325880"/>
            <a:ext cx="8138160" cy="3246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</a:pPr>
            <a:r>
              <a:rPr sz="1600">
                <a:solidFill>
                  <a:srgbClr val="334155"/>
                </a:solidFill>
                <a:latin typeface="Calibri"/>
              </a:rPr>
              <a:t>FairFlow AI is a full-stack fairness auditing and governance platform for AI-led decisions.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334155"/>
                </a:solidFill>
                <a:latin typeface="Calibri"/>
              </a:rPr>
              <a:t>It helps teams detect, explain, and mitigate bias before decisions impact real people.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334155"/>
                </a:solidFill>
                <a:latin typeface="Calibri"/>
              </a:rPr>
              <a:t/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334155"/>
                </a:solidFill>
                <a:latin typeface="Calibri"/>
              </a:rPr>
              <a:t>What we built end-to-end: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334155"/>
                </a:solidFill>
                <a:latin typeface="Calibri"/>
              </a:rPr>
              <a:t>• Domain-agnostic auditing for Hiring, Lending, and Healthcare datasets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334155"/>
                </a:solidFill>
                <a:latin typeface="Calibri"/>
              </a:rPr>
              <a:t>• Local C++/WASM privacy shield (PII hashing + schema precheck in browser)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334155"/>
                </a:solidFill>
                <a:latin typeface="Calibri"/>
              </a:rPr>
              <a:t>• Bias metrics (DI, SPD, Equal Opportunity, Average Odds) + SHAP + counterfactuals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334155"/>
                </a:solidFill>
                <a:latin typeface="Calibri"/>
              </a:rPr>
              <a:t>• Mitigation workflows (reweighing / prejudice remover / equalized odds)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334155"/>
                </a:solidFill>
                <a:latin typeface="Calibri"/>
              </a:rPr>
              <a:t>• Governance memory, DP-ready reporting, and certificate pipeline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8"/>
          <p:cNvSpPr txBox="1"/>
          <p:nvPr/>
        </p:nvSpPr>
        <p:spPr>
          <a:xfrm>
            <a:off x="183250" y="818550"/>
            <a:ext cx="8784300" cy="14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sz="3000" b="1">
                <a:solidFill>
                  <a:srgbClr val="1F2937"/>
                </a:solidFill>
                <a:latin typeface="Calibri"/>
              </a:rPr>
              <a:t>Opportunities and Differentiation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22" name="Google Shape;122;p28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Rounded Rectangle 122"/>
          <p:cNvSpPr/>
          <p:nvPr/>
        </p:nvSpPr>
        <p:spPr>
          <a:xfrm>
            <a:off x="502920" y="1325880"/>
            <a:ext cx="2560320" cy="3246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</a:pPr>
            <a:r>
              <a:rPr sz="2100" b="1">
                <a:solidFill>
                  <a:srgbClr val="1F2937"/>
                </a:solidFill>
                <a:latin typeface="Calibri"/>
              </a:rPr>
              <a:t>How different are we?</a:t>
            </a:r>
          </a:p>
          <a:p>
            <a:pPr>
              <a:spcAft>
                <a:spcPts val="400"/>
              </a:spcAft>
            </a:pPr>
            <a:r>
              <a:rPr sz="1800">
                <a:solidFill>
                  <a:srgbClr val="334155"/>
                </a:solidFill>
                <a:latin typeface="Calibri"/>
              </a:rPr>
              <a:t>Most tools are offline notebooks.</a:t>
            </a:r>
          </a:p>
          <a:p>
            <a:pPr>
              <a:spcAft>
                <a:spcPts val="400"/>
              </a:spcAft>
            </a:pPr>
            <a:r>
              <a:rPr sz="1800">
                <a:solidFill>
                  <a:srgbClr val="334155"/>
                </a:solidFill>
                <a:latin typeface="Calibri"/>
              </a:rPr>
              <a:t>FairFlow offers a decision-ready UI with explainability and governance built in.</a:t>
            </a:r>
          </a:p>
        </p:txBody>
      </p:sp>
      <p:sp>
        <p:nvSpPr>
          <p:cNvPr id="124" name="Rounded Rectangle 123"/>
          <p:cNvSpPr/>
          <p:nvPr/>
        </p:nvSpPr>
        <p:spPr>
          <a:xfrm>
            <a:off x="3246120" y="1325880"/>
            <a:ext cx="2560320" cy="3246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</a:pPr>
            <a:r>
              <a:rPr sz="2100" b="1">
                <a:solidFill>
                  <a:srgbClr val="1F2937"/>
                </a:solidFill>
                <a:latin typeface="Calibri"/>
              </a:rPr>
              <a:t>How does it solve the problem?</a:t>
            </a:r>
          </a:p>
          <a:p>
            <a:pPr>
              <a:spcAft>
                <a:spcPts val="400"/>
              </a:spcAft>
            </a:pPr>
            <a:r>
              <a:rPr sz="1800">
                <a:solidFill>
                  <a:srgbClr val="334155"/>
                </a:solidFill>
                <a:latin typeface="Calibri"/>
              </a:rPr>
              <a:t>Local privacy precheck blocks raw PII egress.</a:t>
            </a:r>
          </a:p>
          <a:p>
            <a:pPr>
              <a:spcAft>
                <a:spcPts val="400"/>
              </a:spcAft>
            </a:pPr>
            <a:r>
              <a:rPr sz="1800">
                <a:solidFill>
                  <a:srgbClr val="334155"/>
                </a:solidFill>
                <a:latin typeface="Calibri"/>
              </a:rPr>
              <a:t>Real-time fairness diagnostics guide safe actions before rollout.</a:t>
            </a:r>
          </a:p>
        </p:txBody>
      </p:sp>
      <p:sp>
        <p:nvSpPr>
          <p:cNvPr id="125" name="Rounded Rectangle 124"/>
          <p:cNvSpPr/>
          <p:nvPr/>
        </p:nvSpPr>
        <p:spPr>
          <a:xfrm>
            <a:off x="5989320" y="1325880"/>
            <a:ext cx="2560320" cy="3246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</a:pPr>
            <a:r>
              <a:rPr sz="2100" b="1">
                <a:solidFill>
                  <a:srgbClr val="1F2937"/>
                </a:solidFill>
                <a:latin typeface="Calibri"/>
              </a:rPr>
              <a:t>USP</a:t>
            </a:r>
          </a:p>
          <a:p>
            <a:pPr>
              <a:spcAft>
                <a:spcPts val="400"/>
              </a:spcAft>
            </a:pPr>
            <a:r>
              <a:rPr sz="1800">
                <a:solidFill>
                  <a:srgbClr val="334155"/>
                </a:solidFill>
                <a:latin typeface="Calibri"/>
              </a:rPr>
              <a:t>Domain templates + schema mapping</a:t>
            </a:r>
          </a:p>
          <a:p>
            <a:pPr>
              <a:spcAft>
                <a:spcPts val="400"/>
              </a:spcAft>
            </a:pPr>
            <a:r>
              <a:rPr sz="1800">
                <a:solidFill>
                  <a:srgbClr val="334155"/>
                </a:solidFill>
                <a:latin typeface="Calibri"/>
              </a:rPr>
              <a:t>Governance memory + mitigation recommendations</a:t>
            </a:r>
          </a:p>
          <a:p>
            <a:pPr>
              <a:spcAft>
                <a:spcPts val="400"/>
              </a:spcAft>
            </a:pPr>
            <a:r>
              <a:rPr sz="1800">
                <a:solidFill>
                  <a:srgbClr val="334155"/>
                </a:solidFill>
                <a:latin typeface="Calibri"/>
              </a:rPr>
              <a:t>Compliance-friendly PDF and audit certificate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9"/>
          <p:cNvSpPr txBox="1"/>
          <p:nvPr/>
        </p:nvSpPr>
        <p:spPr>
          <a:xfrm>
            <a:off x="195475" y="855225"/>
            <a:ext cx="8698800" cy="54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sz="3000" b="1">
                <a:solidFill>
                  <a:srgbClr val="1F2937"/>
                </a:solidFill>
                <a:latin typeface="Calibri"/>
              </a:rPr>
              <a:t>List of Features Offered by the Solution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28" name="Google Shape;128;p29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Rectangle 128"/>
          <p:cNvSpPr/>
          <p:nvPr/>
        </p:nvSpPr>
        <p:spPr>
          <a:xfrm>
            <a:off x="548640" y="1325880"/>
            <a:ext cx="8046720" cy="3246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</a:pPr>
            <a:r>
              <a:rPr sz="1500">
                <a:solidFill>
                  <a:srgbClr val="334155"/>
                </a:solidFill>
                <a:latin typeface="Calibri"/>
              </a:rPr>
              <a:t>1) Domain selector + auto schema detection (Hiring / Lending / Healthcare / Custom)</a:t>
            </a:r>
          </a:p>
          <a:p>
            <a:pPr>
              <a:spcAft>
                <a:spcPts val="400"/>
              </a:spcAft>
            </a:pPr>
            <a:r>
              <a:rPr sz="1500">
                <a:solidFill>
                  <a:srgbClr val="334155"/>
                </a:solidFill>
                <a:latin typeface="Calibri"/>
              </a:rPr>
              <a:t>2) Browser-side WASM privacy shield for PII tokenization and local precheck</a:t>
            </a:r>
          </a:p>
          <a:p>
            <a:pPr>
              <a:spcAft>
                <a:spcPts val="400"/>
              </a:spcAft>
            </a:pPr>
            <a:r>
              <a:rPr sz="1500">
                <a:solidFill>
                  <a:srgbClr val="334155"/>
                </a:solidFill>
                <a:latin typeface="Calibri"/>
              </a:rPr>
              <a:t>3) Upload pipeline with clear schema validation and guided errors</a:t>
            </a:r>
          </a:p>
          <a:p>
            <a:pPr>
              <a:spcAft>
                <a:spcPts val="400"/>
              </a:spcAft>
            </a:pPr>
            <a:r>
              <a:rPr sz="1500">
                <a:solidFill>
                  <a:srgbClr val="334155"/>
                </a:solidFill>
                <a:latin typeface="Calibri"/>
              </a:rPr>
              <a:t>4) Fairness metric engine (DI, SPD, EOD, AOD) using Fairlearn + AIF360</a:t>
            </a:r>
          </a:p>
          <a:p>
            <a:pPr>
              <a:spcAft>
                <a:spcPts val="400"/>
              </a:spcAft>
            </a:pPr>
            <a:r>
              <a:rPr sz="1500">
                <a:solidFill>
                  <a:srgbClr val="334155"/>
                </a:solidFill>
                <a:latin typeface="Calibri"/>
              </a:rPr>
              <a:t>5) Candidate-level SHAP explanation and proxy-feature flags</a:t>
            </a:r>
          </a:p>
          <a:p>
            <a:pPr>
              <a:spcAft>
                <a:spcPts val="400"/>
              </a:spcAft>
            </a:pPr>
            <a:r>
              <a:rPr sz="1500">
                <a:solidFill>
                  <a:srgbClr val="334155"/>
                </a:solidFill>
                <a:latin typeface="Calibri"/>
              </a:rPr>
              <a:t>6) Counterfactual simulation to test protected-attribute sensitivity</a:t>
            </a:r>
          </a:p>
          <a:p>
            <a:pPr>
              <a:spcAft>
                <a:spcPts val="400"/>
              </a:spcAft>
            </a:pPr>
            <a:r>
              <a:rPr sz="1500">
                <a:solidFill>
                  <a:srgbClr val="334155"/>
                </a:solidFill>
                <a:latin typeface="Calibri"/>
              </a:rPr>
              <a:t>7) Mitigation center with comparative strategy analysis</a:t>
            </a:r>
          </a:p>
          <a:p>
            <a:pPr>
              <a:spcAft>
                <a:spcPts val="400"/>
              </a:spcAft>
            </a:pPr>
            <a:r>
              <a:rPr sz="1500">
                <a:solidFill>
                  <a:srgbClr val="334155"/>
                </a:solidFill>
                <a:latin typeface="Calibri"/>
              </a:rPr>
              <a:t>8) Governance intelligence view with memory-driven risk context</a:t>
            </a:r>
          </a:p>
          <a:p>
            <a:pPr>
              <a:spcAft>
                <a:spcPts val="400"/>
              </a:spcAft>
            </a:pPr>
            <a:r>
              <a:rPr sz="1500">
                <a:solidFill>
                  <a:srgbClr val="334155"/>
                </a:solidFill>
                <a:latin typeface="Calibri"/>
              </a:rPr>
              <a:t>9) Differentially private report export + immutable certificate hash</a:t>
            </a:r>
          </a:p>
          <a:p>
            <a:pPr>
              <a:spcAft>
                <a:spcPts val="400"/>
              </a:spcAft>
            </a:pPr>
            <a:r>
              <a:rPr sz="1500">
                <a:solidFill>
                  <a:srgbClr val="334155"/>
                </a:solidFill>
                <a:latin typeface="Calibri"/>
              </a:rPr>
              <a:t>10) Authenticated multi-user dashboard with audit history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30"/>
          <p:cNvSpPr txBox="1"/>
          <p:nvPr/>
        </p:nvSpPr>
        <p:spPr>
          <a:xfrm>
            <a:off x="195475" y="830775"/>
            <a:ext cx="8772000" cy="51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sz="3000" b="1">
                <a:solidFill>
                  <a:srgbClr val="1F2937"/>
                </a:solidFill>
                <a:latin typeface="Calibri"/>
              </a:rPr>
              <a:t>Process Flow Diagram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34" name="Google Shape;134;p30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Rounded Rectangle 134"/>
          <p:cNvSpPr/>
          <p:nvPr/>
        </p:nvSpPr>
        <p:spPr>
          <a:xfrm>
            <a:off x="411480" y="1874519"/>
            <a:ext cx="1188720" cy="10515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600">
                <a:solidFill>
                  <a:srgbClr val="FFFFFF"/>
                </a:solidFill>
                <a:latin typeface="Calibri"/>
              </a:rPr>
              <a:t>Step 1</a:t>
            </a:r>
          </a:p>
          <a:p>
            <a:pPr algn="ctr"/>
            <a:r>
              <a:rPr sz="1200">
                <a:solidFill>
                  <a:srgbClr val="FFFFFF"/>
                </a:solidFill>
                <a:latin typeface="Calibri"/>
              </a:rPr>
              <a:t>Domain + CSV</a:t>
            </a:r>
          </a:p>
        </p:txBody>
      </p:sp>
      <p:sp>
        <p:nvSpPr>
          <p:cNvPr id="136" name="Rounded Rectangle 135"/>
          <p:cNvSpPr/>
          <p:nvPr/>
        </p:nvSpPr>
        <p:spPr>
          <a:xfrm>
            <a:off x="1783080" y="1874519"/>
            <a:ext cx="1188720" cy="105156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600">
                <a:solidFill>
                  <a:srgbClr val="FFFFFF"/>
                </a:solidFill>
                <a:latin typeface="Calibri"/>
              </a:rPr>
              <a:t>Step 2</a:t>
            </a:r>
          </a:p>
          <a:p>
            <a:pPr algn="ctr"/>
            <a:r>
              <a:rPr sz="1200">
                <a:solidFill>
                  <a:srgbClr val="FFFFFF"/>
                </a:solidFill>
                <a:latin typeface="Calibri"/>
              </a:rPr>
              <a:t>WASM Precheck</a:t>
            </a:r>
          </a:p>
        </p:txBody>
      </p:sp>
      <p:sp>
        <p:nvSpPr>
          <p:cNvPr id="137" name="Rounded Rectangle 136"/>
          <p:cNvSpPr/>
          <p:nvPr/>
        </p:nvSpPr>
        <p:spPr>
          <a:xfrm>
            <a:off x="3154680" y="1874519"/>
            <a:ext cx="1188720" cy="105156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600">
                <a:solidFill>
                  <a:srgbClr val="FFFFFF"/>
                </a:solidFill>
                <a:latin typeface="Calibri"/>
              </a:rPr>
              <a:t>Step 3</a:t>
            </a:r>
          </a:p>
          <a:p>
            <a:pPr algn="ctr"/>
            <a:r>
              <a:rPr sz="1200">
                <a:solidFill>
                  <a:srgbClr val="FFFFFF"/>
                </a:solidFill>
                <a:latin typeface="Calibri"/>
              </a:rPr>
              <a:t>Bias Audit</a:t>
            </a:r>
          </a:p>
        </p:txBody>
      </p:sp>
      <p:sp>
        <p:nvSpPr>
          <p:cNvPr id="138" name="Rounded Rectangle 137"/>
          <p:cNvSpPr/>
          <p:nvPr/>
        </p:nvSpPr>
        <p:spPr>
          <a:xfrm>
            <a:off x="4526280" y="1874519"/>
            <a:ext cx="1188720" cy="1051560"/>
          </a:xfrm>
          <a:prstGeom prst="round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600">
                <a:solidFill>
                  <a:srgbClr val="FFFFFF"/>
                </a:solidFill>
                <a:latin typeface="Calibri"/>
              </a:rPr>
              <a:t>Step 4</a:t>
            </a:r>
          </a:p>
          <a:p>
            <a:pPr algn="ctr"/>
            <a:r>
              <a:rPr sz="1200">
                <a:solidFill>
                  <a:srgbClr val="FFFFFF"/>
                </a:solidFill>
                <a:latin typeface="Calibri"/>
              </a:rPr>
              <a:t>Explainability</a:t>
            </a:r>
          </a:p>
        </p:txBody>
      </p:sp>
      <p:sp>
        <p:nvSpPr>
          <p:cNvPr id="139" name="Rounded Rectangle 138"/>
          <p:cNvSpPr/>
          <p:nvPr/>
        </p:nvSpPr>
        <p:spPr>
          <a:xfrm>
            <a:off x="5897880" y="1874519"/>
            <a:ext cx="1188720" cy="1051560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600">
                <a:solidFill>
                  <a:srgbClr val="FFFFFF"/>
                </a:solidFill>
                <a:latin typeface="Calibri"/>
              </a:rPr>
              <a:t>Step 5</a:t>
            </a:r>
          </a:p>
          <a:p>
            <a:pPr algn="ctr"/>
            <a:r>
              <a:rPr sz="1200">
                <a:solidFill>
                  <a:srgbClr val="FFFFFF"/>
                </a:solidFill>
                <a:latin typeface="Calibri"/>
              </a:rPr>
              <a:t>Mitigation</a:t>
            </a:r>
          </a:p>
        </p:txBody>
      </p:sp>
      <p:sp>
        <p:nvSpPr>
          <p:cNvPr id="140" name="Rounded Rectangle 139"/>
          <p:cNvSpPr/>
          <p:nvPr/>
        </p:nvSpPr>
        <p:spPr>
          <a:xfrm>
            <a:off x="7269480" y="1874519"/>
            <a:ext cx="1188720" cy="1051560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600">
                <a:solidFill>
                  <a:srgbClr val="FFFFFF"/>
                </a:solidFill>
                <a:latin typeface="Calibri"/>
              </a:rPr>
              <a:t>Step 6</a:t>
            </a:r>
          </a:p>
          <a:p>
            <a:pPr algn="ctr"/>
            <a:r>
              <a:rPr sz="1200">
                <a:solidFill>
                  <a:srgbClr val="FFFFFF"/>
                </a:solidFill>
                <a:latin typeface="Calibri"/>
              </a:rPr>
              <a:t>Governance + Report</a:t>
            </a:r>
          </a:p>
        </p:txBody>
      </p:sp>
      <p:sp>
        <p:nvSpPr>
          <p:cNvPr id="141" name="Right Arrow 140"/>
          <p:cNvSpPr/>
          <p:nvPr/>
        </p:nvSpPr>
        <p:spPr>
          <a:xfrm>
            <a:off x="1600200" y="2267712"/>
            <a:ext cx="411480" cy="256032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ight Arrow 141"/>
          <p:cNvSpPr/>
          <p:nvPr/>
        </p:nvSpPr>
        <p:spPr>
          <a:xfrm>
            <a:off x="2971800" y="2267712"/>
            <a:ext cx="411480" cy="256032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ight Arrow 142"/>
          <p:cNvSpPr/>
          <p:nvPr/>
        </p:nvSpPr>
        <p:spPr>
          <a:xfrm>
            <a:off x="4343400" y="2267712"/>
            <a:ext cx="411480" cy="256032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ight Arrow 143"/>
          <p:cNvSpPr/>
          <p:nvPr/>
        </p:nvSpPr>
        <p:spPr>
          <a:xfrm>
            <a:off x="5715000" y="2267712"/>
            <a:ext cx="411480" cy="256032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ight Arrow 144"/>
          <p:cNvSpPr/>
          <p:nvPr/>
        </p:nvSpPr>
        <p:spPr>
          <a:xfrm>
            <a:off x="7086600" y="2267712"/>
            <a:ext cx="411480" cy="256032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ounded Rectangle 145"/>
          <p:cNvSpPr/>
          <p:nvPr/>
        </p:nvSpPr>
        <p:spPr>
          <a:xfrm>
            <a:off x="594360" y="3200400"/>
            <a:ext cx="7498079" cy="109728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</a:pPr>
            <a:r>
              <a:rPr sz="1400">
                <a:solidFill>
                  <a:srgbClr val="334155"/>
                </a:solidFill>
                <a:latin typeface="Calibri"/>
              </a:rPr>
              <a:t>Every stage is logged for traceability: input schema, metric outputs, mitigation results, and governance summary.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31"/>
          <p:cNvSpPr txBox="1"/>
          <p:nvPr/>
        </p:nvSpPr>
        <p:spPr>
          <a:xfrm>
            <a:off x="207700" y="879650"/>
            <a:ext cx="8723100" cy="59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sz="3000" b="1">
                <a:solidFill>
                  <a:srgbClr val="1F2937"/>
                </a:solidFill>
                <a:latin typeface="Calibri"/>
              </a:rPr>
              <a:t>Wireframes / Mock Screens of the Proposed Solution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40" name="Google Shape;140;p31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Rounded Rectangle 140"/>
          <p:cNvSpPr/>
          <p:nvPr/>
        </p:nvSpPr>
        <p:spPr>
          <a:xfrm>
            <a:off x="502920" y="1417320"/>
            <a:ext cx="3657600" cy="1234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</a:pPr>
            <a:r>
              <a:rPr sz="2100" b="1">
                <a:solidFill>
                  <a:srgbClr val="1F2937"/>
                </a:solidFill>
                <a:latin typeface="Calibri"/>
              </a:rPr>
              <a:t>A. Secure Sign-in + Workspace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4155"/>
                </a:solidFill>
                <a:latin typeface="Calibri"/>
              </a:rPr>
              <a:t>Email auth, session token, role-ready navigation</a:t>
            </a:r>
          </a:p>
        </p:txBody>
      </p:sp>
      <p:sp>
        <p:nvSpPr>
          <p:cNvPr id="142" name="Rounded Rectangle 141"/>
          <p:cNvSpPr/>
          <p:nvPr/>
        </p:nvSpPr>
        <p:spPr>
          <a:xfrm>
            <a:off x="4434840" y="1417320"/>
            <a:ext cx="3657600" cy="1234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</a:pPr>
            <a:r>
              <a:rPr sz="2100" b="1">
                <a:solidFill>
                  <a:srgbClr val="1F2937"/>
                </a:solidFill>
                <a:latin typeface="Calibri"/>
              </a:rPr>
              <a:t>B. Upload + Domain Mapping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4155"/>
                </a:solidFill>
                <a:latin typeface="Calibri"/>
              </a:rPr>
              <a:t>2-step flow with schema checks and upload status</a:t>
            </a:r>
          </a:p>
        </p:txBody>
      </p:sp>
      <p:sp>
        <p:nvSpPr>
          <p:cNvPr id="143" name="Rounded Rectangle 142"/>
          <p:cNvSpPr/>
          <p:nvPr/>
        </p:nvSpPr>
        <p:spPr>
          <a:xfrm>
            <a:off x="502920" y="2880360"/>
            <a:ext cx="3657600" cy="1234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</a:pPr>
            <a:r>
              <a:rPr sz="2100" b="1">
                <a:solidFill>
                  <a:srgbClr val="1F2937"/>
                </a:solidFill>
                <a:latin typeface="Calibri"/>
              </a:rPr>
              <a:t>C. Dashboard + Mitigation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4155"/>
                </a:solidFill>
                <a:latin typeface="Calibri"/>
              </a:rPr>
              <a:t>Fairness scores, strategy comparison, recommendation</a:t>
            </a:r>
          </a:p>
        </p:txBody>
      </p:sp>
      <p:sp>
        <p:nvSpPr>
          <p:cNvPr id="144" name="Rounded Rectangle 143"/>
          <p:cNvSpPr/>
          <p:nvPr/>
        </p:nvSpPr>
        <p:spPr>
          <a:xfrm>
            <a:off x="4434840" y="2880360"/>
            <a:ext cx="3657600" cy="1234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</a:pPr>
            <a:r>
              <a:rPr sz="2100" b="1">
                <a:solidFill>
                  <a:srgbClr val="1F2937"/>
                </a:solidFill>
                <a:latin typeface="Calibri"/>
              </a:rPr>
              <a:t>D. Governance Intelligence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4155"/>
                </a:solidFill>
                <a:latin typeface="Calibri"/>
              </a:rPr>
              <a:t>Plain-language verdict and audit memory timeline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32"/>
          <p:cNvSpPr txBox="1"/>
          <p:nvPr/>
        </p:nvSpPr>
        <p:spPr>
          <a:xfrm>
            <a:off x="171050" y="867425"/>
            <a:ext cx="8820900" cy="59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sz="3000" b="1">
                <a:solidFill>
                  <a:srgbClr val="1F2937"/>
                </a:solidFill>
                <a:latin typeface="Calibri"/>
              </a:rPr>
              <a:t>Architecture Diagram of the Proposed Solution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46" name="Google Shape;146;p32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Rounded Rectangle 146"/>
          <p:cNvSpPr/>
          <p:nvPr/>
        </p:nvSpPr>
        <p:spPr>
          <a:xfrm>
            <a:off x="640080" y="1325880"/>
            <a:ext cx="7498079" cy="640080"/>
          </a:xfrm>
          <a:prstGeom prst="roundRect">
            <a:avLst/>
          </a:prstGeom>
          <a:solidFill>
            <a:srgbClr val="DBEAFE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E40AF"/>
                </a:solidFill>
                <a:latin typeface="Calibri"/>
              </a:rPr>
              <a:t>Client Layer: React 18 / Flutter + C++ WASM Privacy Shield</a:t>
            </a:r>
          </a:p>
        </p:txBody>
      </p:sp>
      <p:sp>
        <p:nvSpPr>
          <p:cNvPr id="148" name="Rounded Rectangle 147"/>
          <p:cNvSpPr/>
          <p:nvPr/>
        </p:nvSpPr>
        <p:spPr>
          <a:xfrm>
            <a:off x="640080" y="2057400"/>
            <a:ext cx="7498079" cy="640080"/>
          </a:xfrm>
          <a:prstGeom prst="roundRect">
            <a:avLst/>
          </a:prstGeom>
          <a:solidFill>
            <a:srgbClr val="DCFCE7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065F46"/>
                </a:solidFill>
                <a:latin typeface="Calibri"/>
              </a:rPr>
              <a:t>API Layer: FastAPI + JWT + Domain Templates + Validation</a:t>
            </a:r>
          </a:p>
        </p:txBody>
      </p:sp>
      <p:sp>
        <p:nvSpPr>
          <p:cNvPr id="149" name="Rounded Rectangle 148"/>
          <p:cNvSpPr/>
          <p:nvPr/>
        </p:nvSpPr>
        <p:spPr>
          <a:xfrm>
            <a:off x="640080" y="2788920"/>
            <a:ext cx="7498079" cy="640080"/>
          </a:xfrm>
          <a:prstGeom prst="roundRect">
            <a:avLst/>
          </a:prstGeom>
          <a:solidFill>
            <a:srgbClr val="FEF3C7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92400E"/>
                </a:solidFill>
                <a:latin typeface="Calibri"/>
              </a:rPr>
              <a:t>AI/ML Layer: Fairlearn, AIF360, SHAP, Counterfactuals, DoWhy, LangGraph, Gemini</a:t>
            </a:r>
          </a:p>
        </p:txBody>
      </p:sp>
      <p:sp>
        <p:nvSpPr>
          <p:cNvPr id="150" name="Rounded Rectangle 149"/>
          <p:cNvSpPr/>
          <p:nvPr/>
        </p:nvSpPr>
        <p:spPr>
          <a:xfrm>
            <a:off x="640080" y="3520440"/>
            <a:ext cx="7498079" cy="640080"/>
          </a:xfrm>
          <a:prstGeom prst="roundRect">
            <a:avLst/>
          </a:prstGeom>
          <a:solidFill>
            <a:srgbClr val="EDE9FE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4C1D95"/>
                </a:solidFill>
                <a:latin typeface="Calibri"/>
              </a:rPr>
              <a:t>Data &amp; Trust Layer: PostgreSQL, Audit Memories, DP Reports, SHA-256 Certificates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1" name="Google Shape;151;p33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33"/>
          <p:cNvSpPr txBox="1"/>
          <p:nvPr/>
        </p:nvSpPr>
        <p:spPr>
          <a:xfrm>
            <a:off x="158825" y="855225"/>
            <a:ext cx="8784300" cy="112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sz="3000" b="1">
                <a:solidFill>
                  <a:srgbClr val="1F2937"/>
                </a:solidFill>
                <a:latin typeface="Calibri"/>
              </a:rPr>
              <a:t>Technologies Used in the Solution</a:t>
            </a:r>
            <a:endParaRPr b="0" i="0" sz="12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graphicFrame>
        <p:nvGraphicFramePr>
          <p:cNvPr id="153" name="Table 152"/>
          <p:cNvGraphicFramePr>
            <a:graphicFrameLocks noGrp="1"/>
          </p:cNvGraphicFramePr>
          <p:nvPr/>
        </p:nvGraphicFramePr>
        <p:xfrm>
          <a:off x="548640" y="1417320"/>
          <a:ext cx="804672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82240"/>
                <a:gridCol w="2682240"/>
                <a:gridCol w="2682240"/>
              </a:tblGrid>
              <a:tr h="418011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F2937"/>
                          </a:solidFill>
                          <a:latin typeface="Calibri"/>
                        </a:rPr>
                        <a:t>Layer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F2937"/>
                          </a:solidFill>
                          <a:latin typeface="Calibri"/>
                        </a:rPr>
                        <a:t>Technologies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F2937"/>
                          </a:solidFill>
                          <a:latin typeface="Calibri"/>
                        </a:rPr>
                        <a:t>Purpose</a:t>
                      </a:r>
                    </a:p>
                  </a:txBody>
                  <a:tcPr/>
                </a:tc>
              </a:tr>
              <a:tr h="418011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4155"/>
                          </a:solidFill>
                          <a:latin typeface="Calibri"/>
                        </a:rPr>
                        <a:t>Frontend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4155"/>
                          </a:solidFill>
                          <a:latin typeface="Calibri"/>
                        </a:rPr>
                        <a:t>React 18, Tailwind, Recharts, Headless UI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4155"/>
                          </a:solidFill>
                          <a:latin typeface="Calibri"/>
                        </a:rPr>
                        <a:t>Interactive dashboards and visual fairness analytics</a:t>
                      </a:r>
                    </a:p>
                  </a:txBody>
                  <a:tcPr/>
                </a:tc>
              </a:tr>
              <a:tr h="418011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4155"/>
                          </a:solidFill>
                          <a:latin typeface="Calibri"/>
                        </a:rPr>
                        <a:t>Mobile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4155"/>
                          </a:solidFill>
                          <a:latin typeface="Calibri"/>
                        </a:rPr>
                        <a:t>Flutter (prototype track)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4155"/>
                          </a:solidFill>
                          <a:latin typeface="Calibri"/>
                        </a:rPr>
                        <a:t>Mobile workflow for submission/use-case demos</a:t>
                      </a:r>
                    </a:p>
                  </a:txBody>
                  <a:tcPr/>
                </a:tc>
              </a:tr>
              <a:tr h="418011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4155"/>
                          </a:solidFill>
                          <a:latin typeface="Calibri"/>
                        </a:rPr>
                        <a:t>Backend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4155"/>
                          </a:solidFill>
                          <a:latin typeface="Calibri"/>
                        </a:rPr>
                        <a:t>FastAPI, SQLAlchemy, JWT, Docker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4155"/>
                          </a:solidFill>
                          <a:latin typeface="Calibri"/>
                        </a:rPr>
                        <a:t>API, auth, orchestration, and deployment-ready services</a:t>
                      </a:r>
                    </a:p>
                  </a:txBody>
                  <a:tcPr/>
                </a:tc>
              </a:tr>
              <a:tr h="418011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4155"/>
                          </a:solidFill>
                          <a:latin typeface="Calibri"/>
                        </a:rPr>
                        <a:t>AI/ML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4155"/>
                          </a:solidFill>
                          <a:latin typeface="Calibri"/>
                        </a:rPr>
                        <a:t>Fairlearn, AIF360, SHAP, DoWhy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4155"/>
                          </a:solidFill>
                          <a:latin typeface="Calibri"/>
                        </a:rPr>
                        <a:t>Metric computation, explainability, causal/proxy analysis</a:t>
                      </a:r>
                    </a:p>
                  </a:txBody>
                  <a:tcPr/>
                </a:tc>
              </a:tr>
              <a:tr h="418011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4155"/>
                          </a:solidFill>
                          <a:latin typeface="Calibri"/>
                        </a:rPr>
                        <a:t>AI Agent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4155"/>
                          </a:solidFill>
                          <a:latin typeface="Calibri"/>
                        </a:rPr>
                        <a:t>LangGraph + local memory records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4155"/>
                          </a:solidFill>
                          <a:latin typeface="Calibri"/>
                        </a:rPr>
                        <a:t>Governance recommendations with historical context</a:t>
                      </a:r>
                    </a:p>
                  </a:txBody>
                  <a:tcPr/>
                </a:tc>
              </a:tr>
              <a:tr h="418014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4155"/>
                          </a:solidFill>
                          <a:latin typeface="Calibri"/>
                        </a:rPr>
                        <a:t>Cloud/LLM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4155"/>
                          </a:solidFill>
                          <a:latin typeface="Calibri"/>
                        </a:rPr>
                        <a:t>Gemini 1.5 Flash, Vertex AI, Cloud Run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4155"/>
                          </a:solidFill>
                          <a:latin typeface="Calibri"/>
                        </a:rPr>
                        <a:t>Multimodal reasoning and scalable production path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34"/>
          <p:cNvSpPr txBox="1"/>
          <p:nvPr/>
        </p:nvSpPr>
        <p:spPr>
          <a:xfrm>
            <a:off x="158825" y="818550"/>
            <a:ext cx="88452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sz="3000" b="1">
                <a:solidFill>
                  <a:srgbClr val="1F2937"/>
                </a:solidFill>
                <a:latin typeface="Calibri"/>
              </a:rPr>
              <a:t>Estimated Implementation Cost (MVP to Pilot)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58" name="Google Shape;158;p34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59" name="Table 158"/>
          <p:cNvGraphicFramePr>
            <a:graphicFrameLocks noGrp="1"/>
          </p:cNvGraphicFramePr>
          <p:nvPr/>
        </p:nvGraphicFramePr>
        <p:xfrm>
          <a:off x="731520" y="1417320"/>
          <a:ext cx="7680960" cy="2971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2560320"/>
                <a:gridCol w="2560320"/>
              </a:tblGrid>
              <a:tr h="424542">
                <a:tc>
                  <a:txBody>
                    <a:bodyPr/>
                    <a:lstStyle/>
                    <a:p>
                      <a:r>
                        <a:rPr sz="1400" b="1">
                          <a:latin typeface="Calibri"/>
                        </a:rPr>
                        <a:t>Service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>
                          <a:latin typeface="Calibri"/>
                        </a:rPr>
                        <a:t>Estimated Monthly Cost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>
                          <a:latin typeface="Calibri"/>
                        </a:rPr>
                        <a:t>Notes</a:t>
                      </a:r>
                    </a:p>
                  </a:txBody>
                  <a:tcPr/>
                </a:tc>
              </a:tr>
              <a:tr h="424542">
                <a:tc>
                  <a:txBody>
                    <a:bodyPr/>
                    <a:lstStyle/>
                    <a:p>
                      <a:r>
                        <a:rPr sz="1300" b="0">
                          <a:latin typeface="Calibri"/>
                        </a:rPr>
                        <a:t>Cloud Run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Calibri"/>
                        </a:rPr>
                        <a:t>$0 - $20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Calibri"/>
                        </a:rPr>
                        <a:t>Scale-to-zero for prototype traffic</a:t>
                      </a:r>
                    </a:p>
                  </a:txBody>
                  <a:tcPr/>
                </a:tc>
              </a:tr>
              <a:tr h="424542">
                <a:tc>
                  <a:txBody>
                    <a:bodyPr/>
                    <a:lstStyle/>
                    <a:p>
                      <a:r>
                        <a:rPr sz="1300" b="0">
                          <a:latin typeface="Calibri"/>
                        </a:rPr>
                        <a:t>Cloud SQL / PostgreSQL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Calibri"/>
                        </a:rPr>
                        <a:t>$7 - $25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Calibri"/>
                        </a:rPr>
                        <a:t>Small instance enough for pilot data</a:t>
                      </a:r>
                    </a:p>
                  </a:txBody>
                  <a:tcPr/>
                </a:tc>
              </a:tr>
              <a:tr h="424542">
                <a:tc>
                  <a:txBody>
                    <a:bodyPr/>
                    <a:lstStyle/>
                    <a:p>
                      <a:r>
                        <a:rPr sz="1300" b="0">
                          <a:latin typeface="Calibri"/>
                        </a:rPr>
                        <a:t>Gemini / Vertex AI usage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Calibri"/>
                        </a:rPr>
                        <a:t>$5 - $30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Calibri"/>
                        </a:rPr>
                        <a:t>Depends on Q&amp;A/report generation volume</a:t>
                      </a:r>
                    </a:p>
                  </a:txBody>
                  <a:tcPr/>
                </a:tc>
              </a:tr>
              <a:tr h="424542">
                <a:tc>
                  <a:txBody>
                    <a:bodyPr/>
                    <a:lstStyle/>
                    <a:p>
                      <a:r>
                        <a:rPr sz="1300" b="0">
                          <a:latin typeface="Calibri"/>
                        </a:rPr>
                        <a:t>Storage + certificates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Calibri"/>
                        </a:rPr>
                        <a:t>$1 - $5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Calibri"/>
                        </a:rPr>
                        <a:t>Reports and logs</a:t>
                      </a:r>
                    </a:p>
                  </a:txBody>
                  <a:tcPr/>
                </a:tc>
              </a:tr>
              <a:tr h="424542">
                <a:tc>
                  <a:txBody>
                    <a:bodyPr/>
                    <a:lstStyle/>
                    <a:p>
                      <a:r>
                        <a:rPr sz="1300" b="0">
                          <a:latin typeface="Calibri"/>
                        </a:rPr>
                        <a:t>Monitoring + logs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Calibri"/>
                        </a:rPr>
                        <a:t>$0 - $10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Calibri"/>
                        </a:rPr>
                        <a:t>Free tier for early stage</a:t>
                      </a:r>
                    </a:p>
                  </a:txBody>
                  <a:tcPr/>
                </a:tc>
              </a:tr>
              <a:tr h="424548">
                <a:tc>
                  <a:txBody>
                    <a:bodyPr/>
                    <a:lstStyle/>
                    <a:p>
                      <a:r>
                        <a:rPr sz="1300" b="0">
                          <a:latin typeface="Calibri"/>
                        </a:rPr>
                        <a:t>Total (prototype to pilot)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Calibri"/>
                        </a:rPr>
                        <a:t>$13 - $90 / month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Calibri"/>
                        </a:rPr>
                        <a:t>Cost grows with team size and audit frequency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35"/>
          <p:cNvSpPr txBox="1"/>
          <p:nvPr/>
        </p:nvSpPr>
        <p:spPr>
          <a:xfrm>
            <a:off x="219900" y="855225"/>
            <a:ext cx="8723100" cy="59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sz="3000" b="1">
                <a:solidFill>
                  <a:srgbClr val="1F2937"/>
                </a:solidFill>
                <a:latin typeface="Calibri"/>
              </a:rPr>
              <a:t>Snapshots of the MVP (Implemented + Tested)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64" name="Google Shape;164;p35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Rounded Rectangle 164"/>
          <p:cNvSpPr/>
          <p:nvPr/>
        </p:nvSpPr>
        <p:spPr>
          <a:xfrm>
            <a:off x="502920" y="1371600"/>
            <a:ext cx="3886200" cy="30632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</a:pPr>
            <a:r>
              <a:rPr sz="2100" b="1">
                <a:solidFill>
                  <a:srgbClr val="1F2937"/>
                </a:solidFill>
                <a:latin typeface="Calibri"/>
              </a:rPr>
              <a:t>Execution Proof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4155"/>
                </a:solidFill>
                <a:latin typeface="Calibri"/>
              </a:rPr>
              <a:t>Working modules verified on localhost: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4155"/>
                </a:solidFill>
                <a:latin typeface="Calibri"/>
              </a:rPr>
              <a:t>• Auth: sign-up, sign-in, protected routes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4155"/>
                </a:solidFill>
                <a:latin typeface="Calibri"/>
              </a:rPr>
              <a:t>• Domain templates API and 2-step upload flow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4155"/>
                </a:solidFill>
                <a:latin typeface="Calibri"/>
              </a:rPr>
              <a:t>• Audit pipeline with candidate explanations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4155"/>
                </a:solidFill>
                <a:latin typeface="Calibri"/>
              </a:rPr>
              <a:t>• Mitigation route + governance screen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4155"/>
                </a:solidFill>
                <a:latin typeface="Calibri"/>
              </a:rPr>
              <a:t/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4155"/>
                </a:solidFill>
                <a:latin typeface="Calibri"/>
              </a:rPr>
              <a:t>Sample hiring audit (200 rows):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4155"/>
                </a:solidFill>
                <a:latin typeface="Calibri"/>
              </a:rPr>
              <a:t>DI: 0.6585 | SPD: -0.1556 | EOD: 0.0000 | AOD: 0.0000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4155"/>
                </a:solidFill>
                <a:latin typeface="Calibri"/>
              </a:rPr>
              <a:t>Bias flag generated and candidate-level details stored.</a:t>
            </a:r>
          </a:p>
        </p:txBody>
      </p:sp>
      <p:sp>
        <p:nvSpPr>
          <p:cNvPr id="166" name="Rounded Rectangle 165"/>
          <p:cNvSpPr/>
          <p:nvPr/>
        </p:nvSpPr>
        <p:spPr>
          <a:xfrm>
            <a:off x="4526280" y="1371600"/>
            <a:ext cx="3657600" cy="30632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</a:pPr>
            <a:r>
              <a:rPr sz="2100" b="1">
                <a:solidFill>
                  <a:srgbClr val="1F2937"/>
                </a:solidFill>
                <a:latin typeface="Calibri"/>
              </a:rPr>
              <a:t>Cross-domain Validation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4155"/>
                </a:solidFill>
                <a:latin typeface="Calibri"/>
              </a:rPr>
              <a:t>Domain-agnostic support validated: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4155"/>
                </a:solidFill>
                <a:latin typeface="Calibri"/>
              </a:rPr>
              <a:t>• Hiring schema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4155"/>
                </a:solidFill>
                <a:latin typeface="Calibri"/>
              </a:rPr>
              <a:t>• Lending schema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4155"/>
                </a:solidFill>
                <a:latin typeface="Calibri"/>
              </a:rPr>
              <a:t>• Healthcare schema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4155"/>
                </a:solidFill>
                <a:latin typeface="Calibri"/>
              </a:rPr>
              <a:t/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4155"/>
                </a:solidFill>
                <a:latin typeface="Calibri"/>
              </a:rPr>
              <a:t>Sample lending audit (200 rows):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4155"/>
                </a:solidFill>
                <a:latin typeface="Calibri"/>
              </a:rPr>
              <a:t>DI: 0.8010 | SPD: -0.1057 | EOD: 0.0000 | AOD: 0.0000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4155"/>
                </a:solidFill>
                <a:latin typeface="Calibri"/>
              </a:rPr>
              <a:t/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4155"/>
                </a:solidFill>
                <a:latin typeface="Calibri"/>
              </a:rPr>
              <a:t>WASM precheck and backend logs confirm end-to-end flow.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36"/>
          <p:cNvSpPr txBox="1"/>
          <p:nvPr/>
        </p:nvSpPr>
        <p:spPr>
          <a:xfrm>
            <a:off x="109950" y="781900"/>
            <a:ext cx="8894100" cy="69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sz="3000" b="1">
                <a:solidFill>
                  <a:srgbClr val="1F2937"/>
                </a:solidFill>
                <a:latin typeface="Calibri"/>
              </a:rPr>
              <a:t>Additional Details / Future Development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70" name="Google Shape;170;p36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Rectangle 170"/>
          <p:cNvSpPr/>
          <p:nvPr/>
        </p:nvSpPr>
        <p:spPr>
          <a:xfrm>
            <a:off x="502920" y="1371600"/>
            <a:ext cx="8138160" cy="3063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</a:pPr>
            <a:r>
              <a:rPr sz="1600">
                <a:solidFill>
                  <a:srgbClr val="334155"/>
                </a:solidFill>
                <a:latin typeface="Calibri"/>
              </a:rPr>
              <a:t>Next 6-8 weeks roadmap: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334155"/>
                </a:solidFill>
                <a:latin typeface="Calibri"/>
              </a:rPr>
              <a:t>1) Async audit jobs and progress tracker for heavy SHAP/mitigation runs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334155"/>
                </a:solidFill>
                <a:latin typeface="Calibri"/>
              </a:rPr>
              <a:t>2) Real-time bias alerts with threshold configuration per organization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334155"/>
                </a:solidFill>
                <a:latin typeface="Calibri"/>
              </a:rPr>
              <a:t>3) Rich governance page: causal proxy graph + memory timeline + plain-language verdict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334155"/>
                </a:solidFill>
                <a:latin typeface="Calibri"/>
              </a:rPr>
              <a:t>4) Better mitigation policy selection based on fairness-accuracy tradeoff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334155"/>
                </a:solidFill>
                <a:latin typeface="Calibri"/>
              </a:rPr>
              <a:t>5) Judge-ready Cloud Run guest mode (no manual DB setup)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334155"/>
                </a:solidFill>
                <a:latin typeface="Calibri"/>
              </a:rPr>
              <a:t>6) Expanded multimodal reasoning with interview audio/video safety checks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5" name="Google Shape;175;p37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37"/>
          <p:cNvSpPr txBox="1"/>
          <p:nvPr/>
        </p:nvSpPr>
        <p:spPr>
          <a:xfrm>
            <a:off x="146600" y="843000"/>
            <a:ext cx="88332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sz="2800" b="1">
                <a:solidFill>
                  <a:srgbClr val="1F2937"/>
                </a:solidFill>
                <a:latin typeface="Calibri"/>
              </a:rPr>
              <a:t>Provide links to your: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r>
              <a:rPr sz="800" b="0">
                <a:solidFill>
                  <a:srgbClr val="334155"/>
                </a:solidFill>
                <a:latin typeface="Calibri"/>
              </a:rPr>
              <a:t/>
            </a:r>
          </a:p>
          <a:p>
            <a:r>
              <a:rPr sz="1900" b="1">
                <a:solidFill>
                  <a:srgbClr val="1F2937"/>
                </a:solidFill>
                <a:latin typeface="Calibri"/>
              </a:rPr>
              <a:t>GitHub Public Repository</a:t>
            </a:r>
          </a:p>
          <a:p>
            <a:r>
              <a:rPr sz="1600" b="0">
                <a:solidFill>
                  <a:srgbClr val="2563EB"/>
                </a:solidFill>
                <a:latin typeface="Calibri"/>
              </a:rPr>
              <a:t>https://github.com/Akshat-coder2106/FairFlow-AI</a:t>
            </a:r>
          </a:p>
          <a:p>
            <a:r>
              <a:rPr sz="700" b="0">
                <a:solidFill>
                  <a:srgbClr val="334155"/>
                </a:solidFill>
                <a:latin typeface="Calibri"/>
              </a:rPr>
              <a:t/>
            </a:r>
          </a:p>
          <a:p>
            <a:r>
              <a:rPr sz="1900" b="1">
                <a:solidFill>
                  <a:srgbClr val="1F2937"/>
                </a:solidFill>
                <a:latin typeface="Calibri"/>
              </a:rPr>
              <a:t>Demo Video Link (3 Minutes)</a:t>
            </a:r>
          </a:p>
          <a:p>
            <a:r>
              <a:rPr sz="1600" b="0">
                <a:solidFill>
                  <a:srgbClr val="334155"/>
                </a:solidFill>
                <a:latin typeface="Calibri"/>
              </a:rPr>
              <a:t>To be attached before final submission</a:t>
            </a:r>
          </a:p>
          <a:p>
            <a:r>
              <a:rPr sz="700" b="0">
                <a:solidFill>
                  <a:srgbClr val="334155"/>
                </a:solidFill>
                <a:latin typeface="Calibri"/>
              </a:rPr>
              <a:t/>
            </a:r>
          </a:p>
          <a:p>
            <a:r>
              <a:rPr sz="1900" b="1">
                <a:solidFill>
                  <a:srgbClr val="1F2937"/>
                </a:solidFill>
                <a:latin typeface="Calibri"/>
              </a:rPr>
              <a:t>MVP Link</a:t>
            </a:r>
          </a:p>
          <a:p>
            <a:r>
              <a:rPr sz="1600" b="0">
                <a:solidFill>
                  <a:srgbClr val="334155"/>
                </a:solidFill>
                <a:latin typeface="Calibri"/>
              </a:rPr>
              <a:t>http://127.0.0.1:3000 (local) | Cloud Run staging: publishing</a:t>
            </a:r>
          </a:p>
          <a:p>
            <a:r>
              <a:rPr sz="700" b="0">
                <a:solidFill>
                  <a:srgbClr val="334155"/>
                </a:solidFill>
                <a:latin typeface="Calibri"/>
              </a:rPr>
              <a:t/>
            </a:r>
          </a:p>
          <a:p>
            <a:r>
              <a:rPr sz="1900" b="1">
                <a:solidFill>
                  <a:srgbClr val="1F2937"/>
                </a:solidFill>
                <a:latin typeface="Calibri"/>
              </a:rPr>
              <a:t>Working Prototype Link</a:t>
            </a:r>
          </a:p>
          <a:p>
            <a:r>
              <a:rPr sz="1600" b="0">
                <a:solidFill>
                  <a:srgbClr val="334155"/>
                </a:solidFill>
                <a:latin typeface="Calibri"/>
              </a:rPr>
              <a:t>Same repository includes frontend, backend, WASM, sample datasets, and docs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1" name="Google Shape;181;p38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Rounded Rectangle 181"/>
          <p:cNvSpPr/>
          <p:nvPr/>
        </p:nvSpPr>
        <p:spPr>
          <a:xfrm>
            <a:off x="1097280" y="1463040"/>
            <a:ext cx="6400800" cy="201168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</a:pPr>
            <a:r>
              <a:rPr sz="2100" b="1">
                <a:solidFill>
                  <a:srgbClr val="2563EB"/>
                </a:solidFill>
                <a:latin typeface="Calibri"/>
              </a:rPr>
              <a:t>Ready for Q&amp;A</a:t>
            </a:r>
          </a:p>
          <a:p>
            <a:pPr>
              <a:spcAft>
                <a:spcPts val="400"/>
              </a:spcAft>
            </a:pPr>
            <a:r>
              <a:rPr sz="2400">
                <a:solidFill>
                  <a:srgbClr val="334155"/>
                </a:solidFill>
                <a:latin typeface="Calibri"/>
              </a:rPr>
              <a:t>Thank You</a:t>
            </a:r>
          </a:p>
          <a:p>
            <a:pPr>
              <a:spcAft>
                <a:spcPts val="400"/>
              </a:spcAft>
            </a:pPr>
            <a:r>
              <a:rPr sz="2400">
                <a:solidFill>
                  <a:srgbClr val="334155"/>
                </a:solidFill>
                <a:latin typeface="Calibri"/>
              </a:rPr>
              <a:t>FairFlow AI Team</a:t>
            </a:r>
          </a:p>
          <a:p>
            <a:pPr>
              <a:spcAft>
                <a:spcPts val="400"/>
              </a:spcAft>
            </a:pPr>
            <a:r>
              <a:rPr sz="2400">
                <a:solidFill>
                  <a:srgbClr val="334155"/>
                </a:solidFill>
                <a:latin typeface="Calibri"/>
              </a:rPr>
              <a:t>Contact: akshatagrawal21april@gmail.com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6" name="Google Shape;186;p39" title="38d89ed3-9ded-48f6-b368-c62c46c50b68 1 [Vectorized]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45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Rounded Rectangle 186"/>
          <p:cNvSpPr/>
          <p:nvPr/>
        </p:nvSpPr>
        <p:spPr>
          <a:xfrm>
            <a:off x="731520" y="822960"/>
            <a:ext cx="7680960" cy="35661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</a:pPr>
            <a:r>
              <a:rPr sz="2100" b="1">
                <a:solidFill>
                  <a:srgbClr val="1F2937"/>
                </a:solidFill>
                <a:latin typeface="Calibri"/>
              </a:rPr>
              <a:t>Appendix: Metric Definitions and Compliance Context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334155"/>
                </a:solidFill>
                <a:latin typeface="Calibri"/>
              </a:rPr>
              <a:t>Fairness definitions used in the engine: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334155"/>
                </a:solidFill>
                <a:latin typeface="Calibri"/>
              </a:rPr>
              <a:t>DI = P(y_hat=1 | unprivileged) / P(y_hat=1 | privileged)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334155"/>
                </a:solidFill>
                <a:latin typeface="Calibri"/>
              </a:rPr>
              <a:t>SPD = P(y_hat=1 | unprivileged) - P(y_hat=1 | privileged)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334155"/>
                </a:solidFill>
                <a:latin typeface="Calibri"/>
              </a:rPr>
              <a:t>Equal Opportunity Difference = TPR_unprivileged - TPR_privileged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334155"/>
                </a:solidFill>
                <a:latin typeface="Calibri"/>
              </a:rPr>
              <a:t>Average Odds Difference = 0.5 * [(FPR_u - FPR_p) + (TPR_u - TPR_p)]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334155"/>
                </a:solidFill>
                <a:latin typeface="Calibri"/>
              </a:rPr>
              <a:t/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334155"/>
                </a:solidFill>
                <a:latin typeface="Calibri"/>
              </a:rPr>
              <a:t>Compliance direction: EU AI Act, NIST AI RMF, DPDP/GDPR-aligned privacy-first architecture.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